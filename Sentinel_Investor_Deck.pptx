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F23173-1D4F-4091-BC04-B8F32EEB78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Z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7A5DBA-3A81-482B-838B-2B74CEE098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2BD956-745C-4FF5-862F-439A3E0987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F7E1F8-319F-483F-A5C1-D5906FE570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5753B4-CDC4-409B-901D-86810401A0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Z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4440DC-0354-4E5A-9700-4B0A6DDF96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031EFE-BE95-4F42-A006-DAFF474917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206815-96D5-4C60-A3D7-D95B133E4E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922727-F885-4CB2-BEDE-E29BA02D64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CFD10E-99FF-4308-8D29-1E7AFDAF9D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2A01B4-5227-491B-A5F6-492F125650D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89658D-F945-4853-80DF-728955435A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Z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ZA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ZA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ZA" sz="1400" spc="-1" strike="noStrike">
                <a:latin typeface="Times New Roman"/>
              </a:rPr>
              <a:t>&lt;footer&gt;</a:t>
            </a:r>
            <a:endParaRPr b="0" lang="en-ZA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50E7C42-4FC6-46AA-9804-E930F45224A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Z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2015280" y="1371600"/>
            <a:ext cx="55699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76c7ff"/>
                </a:solidFill>
                <a:latin typeface="Calibri"/>
              </a:rPr>
              <a:t>Sentinel Command</a:t>
            </a:r>
            <a:endParaRPr b="0" lang="en-ZA" sz="40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914400" y="2286000"/>
            <a:ext cx="777204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AI-Powered Command Platform for Community and Private Security.</a:t>
            </a:r>
            <a:br>
              <a:rPr sz="2000"/>
            </a:b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Unifying radio, CCTV, and sensors into one predictive intelligence system.</a:t>
            </a:r>
            <a:endParaRPr b="0" lang="en-ZA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/>
          <p:cNvSpPr/>
          <p:nvPr/>
        </p:nvSpPr>
        <p:spPr>
          <a:xfrm>
            <a:off x="2905200" y="1371600"/>
            <a:ext cx="3790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76c7ff"/>
                </a:solidFill>
                <a:latin typeface="Calibri"/>
              </a:rPr>
              <a:t>The Problem</a:t>
            </a:r>
            <a:endParaRPr b="0" lang="en-ZA" sz="4000" spc="-1" strike="noStrike">
              <a:latin typeface="Arial"/>
            </a:endParaRPr>
          </a:p>
        </p:txBody>
      </p:sp>
      <p:sp>
        <p:nvSpPr>
          <p:cNvPr id="44" name="TextBox 2"/>
          <p:cNvSpPr/>
          <p:nvPr/>
        </p:nvSpPr>
        <p:spPr>
          <a:xfrm>
            <a:off x="914400" y="2286000"/>
            <a:ext cx="77720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Community safety operations rely on fragmented WhatsApp groups and manual reports.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No central intelligence, limited data visibility, and reactive response.</a:t>
            </a:r>
            <a:endParaRPr b="0" lang="en-ZA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1"/>
          <p:cNvSpPr/>
          <p:nvPr/>
        </p:nvSpPr>
        <p:spPr>
          <a:xfrm>
            <a:off x="2442240" y="1371600"/>
            <a:ext cx="4716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76c7ff"/>
                </a:solidFill>
                <a:latin typeface="Calibri"/>
              </a:rPr>
              <a:t>The Market Gap</a:t>
            </a:r>
            <a:endParaRPr b="0" lang="en-ZA" sz="4000" spc="-1" strike="noStrike">
              <a:latin typeface="Arial"/>
            </a:endParaRPr>
          </a:p>
        </p:txBody>
      </p:sp>
      <p:sp>
        <p:nvSpPr>
          <p:cNvPr id="46" name="TextBox 2"/>
          <p:cNvSpPr/>
          <p:nvPr/>
        </p:nvSpPr>
        <p:spPr>
          <a:xfrm>
            <a:off x="914400" y="2286000"/>
            <a:ext cx="77720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Existing apps like SafeCommunity, TheWatch, and BVigilant focus on logging incidents.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No data analysis or predictive capability to guide response or patrol planning.</a:t>
            </a:r>
            <a:endParaRPr b="0" lang="en-ZA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2912400" y="1371600"/>
            <a:ext cx="37760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76c7ff"/>
                </a:solidFill>
                <a:latin typeface="Calibri"/>
              </a:rPr>
              <a:t>Our Solution</a:t>
            </a:r>
            <a:endParaRPr b="0" lang="en-ZA" sz="40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914400" y="2286000"/>
            <a:ext cx="777204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Sentinel Command uses AI to connect incidents, profiles, and BOLOs — transforming raw reports into actionable intelligence.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Forecast patrols, automate alerts, and unify all communication.</a:t>
            </a:r>
            <a:endParaRPr b="0" lang="en-ZA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1"/>
          <p:cNvSpPr/>
          <p:nvPr/>
        </p:nvSpPr>
        <p:spPr>
          <a:xfrm>
            <a:off x="2159280" y="1371600"/>
            <a:ext cx="52819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76c7ff"/>
                </a:solidFill>
                <a:latin typeface="Calibri"/>
              </a:rPr>
              <a:t>Product Snapshot</a:t>
            </a:r>
            <a:endParaRPr b="0" lang="en-ZA" sz="4000" spc="-1" strike="noStrike">
              <a:latin typeface="Arial"/>
            </a:endParaRPr>
          </a:p>
        </p:txBody>
      </p:sp>
      <p:sp>
        <p:nvSpPr>
          <p:cNvPr id="50" name="TextBox 2"/>
          <p:cNvSpPr/>
          <p:nvPr/>
        </p:nvSpPr>
        <p:spPr>
          <a:xfrm>
            <a:off x="914400" y="2286000"/>
            <a:ext cx="77720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AI-driven patrol forecasting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• Facial recognition and SAPS wanted-list sync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• AI-monitored cameras with automated Zello broadcasts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• Cross-platform (.NET + Azure) mobile and web apps</a:t>
            </a:r>
            <a:endParaRPr b="0" lang="en-ZA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1"/>
          <p:cNvSpPr/>
          <p:nvPr/>
        </p:nvSpPr>
        <p:spPr>
          <a:xfrm>
            <a:off x="1883520" y="1371600"/>
            <a:ext cx="58334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76c7ff"/>
                </a:solidFill>
                <a:latin typeface="Calibri"/>
              </a:rPr>
              <a:t>Market Opportunity</a:t>
            </a:r>
            <a:endParaRPr b="0" lang="en-ZA" sz="4000" spc="-1" strike="noStrike">
              <a:latin typeface="Arial"/>
            </a:endParaRPr>
          </a:p>
        </p:txBody>
      </p:sp>
      <p:sp>
        <p:nvSpPr>
          <p:cNvPr id="52" name="TextBox 2"/>
          <p:cNvSpPr/>
          <p:nvPr/>
        </p:nvSpPr>
        <p:spPr>
          <a:xfrm>
            <a:off x="914400" y="2286000"/>
            <a:ext cx="777204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Western Cape: 600+ neighborhood watches, 17,000+ members.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Potential R850,000 monthly recurring revenue at R50 per user.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Scalable nationally to tens of millions in annual recurring revenue.</a:t>
            </a:r>
            <a:endParaRPr b="0" lang="en-ZA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1"/>
          <p:cNvSpPr/>
          <p:nvPr/>
        </p:nvSpPr>
        <p:spPr>
          <a:xfrm>
            <a:off x="3554640" y="1371600"/>
            <a:ext cx="24915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76c7ff"/>
                </a:solidFill>
                <a:latin typeface="Calibri"/>
              </a:rPr>
              <a:t>Traction</a:t>
            </a:r>
            <a:endParaRPr b="0" lang="en-ZA" sz="4000" spc="-1" strike="noStrike">
              <a:latin typeface="Arial"/>
            </a:endParaRPr>
          </a:p>
        </p:txBody>
      </p:sp>
      <p:sp>
        <p:nvSpPr>
          <p:cNvPr id="54" name="TextBox 2"/>
          <p:cNvSpPr/>
          <p:nvPr/>
        </p:nvSpPr>
        <p:spPr>
          <a:xfrm>
            <a:off x="540000" y="2340000"/>
            <a:ext cx="8280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Two pilots: Vierlanden Security Forum and Parklands NW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• 34 active users, 3 security partners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• Strong early adoption and product-market fit.</a:t>
            </a:r>
            <a:endParaRPr b="0" lang="en-ZA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1"/>
          <p:cNvSpPr/>
          <p:nvPr/>
        </p:nvSpPr>
        <p:spPr>
          <a:xfrm>
            <a:off x="2487960" y="1371600"/>
            <a:ext cx="46249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76c7ff"/>
                </a:solidFill>
                <a:latin typeface="Calibri"/>
              </a:rPr>
              <a:t>Business Model</a:t>
            </a:r>
            <a:endParaRPr b="0" lang="en-ZA" sz="4000" spc="-1" strike="noStrike">
              <a:latin typeface="Arial"/>
            </a:endParaRPr>
          </a:p>
        </p:txBody>
      </p:sp>
      <p:sp>
        <p:nvSpPr>
          <p:cNvPr id="56" name="TextBox 2"/>
          <p:cNvSpPr/>
          <p:nvPr/>
        </p:nvSpPr>
        <p:spPr>
          <a:xfrm>
            <a:off x="914400" y="2286000"/>
            <a:ext cx="77720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SaaS subscription model (R50/user/month)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Automated onboarding, billing, and support (NoOps).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AI-centric infrastructure allows massive scale without added headcount.</a:t>
            </a:r>
            <a:endParaRPr b="0" lang="en-ZA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3962160" y="1371600"/>
            <a:ext cx="16761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76c7ff"/>
                </a:solidFill>
                <a:latin typeface="Calibri"/>
              </a:rPr>
              <a:t>Team</a:t>
            </a:r>
            <a:endParaRPr b="0" lang="en-ZA" sz="4000" spc="-1" strike="noStrike"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914400" y="2286000"/>
            <a:ext cx="77720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Founder-led company — BCom Information Systems + BSc(Hons) Computing.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10+ years in enterprise cloud architecture and AI systems.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One-man unicorn: ultra-lean, automated, and scalable.</a:t>
            </a:r>
            <a:endParaRPr b="0" lang="en-ZA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2288160" y="1371600"/>
            <a:ext cx="50245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76c7ff"/>
                </a:solidFill>
                <a:latin typeface="Calibri"/>
              </a:rPr>
              <a:t>Funding &amp; Vision</a:t>
            </a:r>
            <a:endParaRPr b="0" lang="en-ZA" sz="4000" spc="-1" strike="noStrike">
              <a:latin typeface="Arial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914400" y="2286000"/>
            <a:ext cx="777204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Raising ZAR 1.5M (~$87k USD) for 10% equity (post-money $874k).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Funds to scale paid pilots, enhance AI forecasting, and expand nationwide.</a:t>
            </a:r>
            <a:br>
              <a:rPr sz="2000"/>
            </a:br>
            <a:r>
              <a:rPr b="0" lang="en-US" sz="2000" spc="-1" strike="noStrike">
                <a:solidFill>
                  <a:srgbClr val="e6edf3"/>
                </a:solidFill>
                <a:latin typeface="Calibri"/>
              </a:rPr>
              <a:t>Vision: Become Africa’s leading AI safety infrastructure provider.</a:t>
            </a:r>
            <a:endParaRPr b="0" lang="en-ZA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en-ZA</dc:language>
  <cp:lastModifiedBy/>
  <dcterms:modified xsi:type="dcterms:W3CDTF">2025-11-12T01:13:17Z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